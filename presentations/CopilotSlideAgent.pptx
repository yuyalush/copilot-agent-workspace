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6E4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407670"/>
            <a:ext cx="3344418" cy="4267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Copilot Slide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870585"/>
            <a:ext cx="5312664" cy="213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B949E"/>
                </a:solidFill>
                <a:latin typeface="Segoe UI"/>
              </a:rPr>
              <a:t>One Prompt → Editable PowerPoint with Diagrams in 10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577691"/>
            <a:ext cx="1452181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>
                <a:solidFill>
                  <a:srgbClr val="58A6FF"/>
                </a:solidFill>
                <a:latin typeface="Segoe UI"/>
              </a:rPr>
              <a:t>github.com/kanazawazawa/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749141"/>
            <a:ext cx="1391673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>
                <a:solidFill>
                  <a:srgbClr val="58A6FF"/>
                </a:solidFill>
                <a:latin typeface="Segoe UI"/>
              </a:rPr>
              <a:t>copilot-agent-workspace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" y="1238250"/>
            <a:ext cx="4000500" cy="17145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" y="1378267"/>
            <a:ext cx="693086" cy="24003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1723548"/>
            <a:ext cx="2931866" cy="1733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>
                <a:solidFill>
                  <a:srgbClr val="C9D1D9"/>
                </a:solidFill>
                <a:latin typeface="Segoe UI"/>
              </a:rPr>
              <a:t>Creating customer-facing technical slides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1914048"/>
            <a:ext cx="1885235" cy="1733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>
                <a:solidFill>
                  <a:srgbClr val="C9D1D9"/>
                </a:solidFill>
                <a:latin typeface="Segoe UI"/>
              </a:rPr>
              <a:t>takes 2–3 hours every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4375" y="2207895"/>
            <a:ext cx="2730341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8B949E"/>
                </a:solidFill>
                <a:latin typeface="Segoe UI"/>
              </a:rPr>
              <a:t>① Search MS Learn for latest product info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375" y="2398395"/>
            <a:ext cx="2664332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8B949E"/>
                </a:solidFill>
                <a:latin typeface="Segoe UI"/>
              </a:rPr>
              <a:t>② Structure content into slide narrative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375" y="2588895"/>
            <a:ext cx="2466308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8B949E"/>
                </a:solidFill>
                <a:latin typeface="Segoe UI"/>
              </a:rPr>
              <a:t>③ Manually build diagrams and layouts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4375" y="2779395"/>
            <a:ext cx="2202275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8B949E"/>
                </a:solidFill>
                <a:latin typeface="Segoe UI"/>
              </a:rPr>
              <a:t>④ Review and iterate for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62500" y="1238250"/>
            <a:ext cx="4000500" cy="17145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3000" y="1378267"/>
            <a:ext cx="792099" cy="24003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1723548"/>
            <a:ext cx="2860357" cy="1733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>
                <a:solidFill>
                  <a:srgbClr val="C9D1D9"/>
                </a:solidFill>
                <a:latin typeface="Segoe UI"/>
              </a:rPr>
              <a:t>One prompt automates the entire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3000" y="1914048"/>
            <a:ext cx="2814851" cy="1733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>
                <a:solidFill>
                  <a:srgbClr val="C9D1D9"/>
                </a:solidFill>
                <a:latin typeface="Segoe UI"/>
              </a:rPr>
              <a:t>from research to PPTX — done in ~10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5875" y="2207895"/>
            <a:ext cx="2358294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8B949E"/>
                </a:solidFill>
                <a:latin typeface="Segoe UI"/>
              </a:rPr>
              <a:t>✅ Copilot SDK auto-queries MS Learn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5875" y="2398395"/>
            <a:ext cx="2754344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8B949E"/>
                </a:solidFill>
                <a:latin typeface="Segoe UI"/>
              </a:rPr>
              <a:t>✅ AI generates SVG slides (with diagrams)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5875" y="2588895"/>
            <a:ext cx="2622327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8B949E"/>
                </a:solidFill>
                <a:latin typeface="Segoe UI"/>
              </a:rPr>
              <a:t>✅ svg2pptx.py converts to editable PPTX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5875" y="2779395"/>
            <a:ext cx="2424302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8B949E"/>
                </a:solidFill>
                <a:latin typeface="Segoe UI"/>
              </a:rPr>
              <a:t>✅ Delivered via Azure Blob + web app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429125" y="2095500"/>
            <a:ext cx="285750" cy="0"/>
          </a:xfrm>
          <a:prstGeom prst="line">
            <a:avLst/>
          </a:prstGeom>
          <a:ln w="25400">
            <a:solidFill>
              <a:srgbClr val="6E4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/>
          <p:cNvSpPr/>
          <p:nvPr/>
        </p:nvSpPr>
        <p:spPr>
          <a:xfrm>
            <a:off x="4714875" y="204787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47625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6E4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1000" y="3143250"/>
            <a:ext cx="8382000" cy="857250"/>
          </a:xfrm>
          <a:prstGeom prst="roundRect">
            <a:avLst>
              <a:gd name="adj" fmla="val 8888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500" y="3299460"/>
            <a:ext cx="1672209" cy="213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Key Differentiators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3571875"/>
            <a:ext cx="1905000" cy="304800"/>
          </a:xfrm>
          <a:prstGeom prst="roundRect">
            <a:avLst>
              <a:gd name="adj" fmla="val 125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6750" y="3682841"/>
            <a:ext cx="1738217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>
                <a:solidFill>
                  <a:srgbClr val="C9D1D9"/>
                </a:solidFill>
                <a:latin typeface="Segoe UI"/>
              </a:rPr>
              <a:t>📝 Editable PPTX (not images)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67000" y="3571875"/>
            <a:ext cx="1905000" cy="304800"/>
          </a:xfrm>
          <a:prstGeom prst="roundRect">
            <a:avLst>
              <a:gd name="adj" fmla="val 125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2250" y="3682841"/>
            <a:ext cx="1314664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>
                <a:solidFill>
                  <a:srgbClr val="C9D1D9"/>
                </a:solidFill>
                <a:latin typeface="Segoe UI"/>
              </a:rPr>
              <a:t>🔄 SDK Retry + Timeout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2500" y="3571875"/>
            <a:ext cx="1905000" cy="304800"/>
          </a:xfrm>
          <a:prstGeom prst="roundRect">
            <a:avLst>
              <a:gd name="adj" fmla="val 125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7750" y="3682841"/>
            <a:ext cx="1617202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>
                <a:solidFill>
                  <a:srgbClr val="C9D1D9"/>
                </a:solidFill>
                <a:latin typeface="Segoe UI"/>
              </a:rPr>
              <a:t>📚 MS Learn MCP (live data)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0" y="3571875"/>
            <a:ext cx="1905000" cy="304800"/>
          </a:xfrm>
          <a:prstGeom prst="roundRect">
            <a:avLst>
              <a:gd name="adj" fmla="val 125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53250" y="3682841"/>
            <a:ext cx="1595199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>
                <a:solidFill>
                  <a:srgbClr val="C9D1D9"/>
                </a:solidFill>
                <a:latin typeface="Segoe UI"/>
              </a:rPr>
              <a:t>⚙️ CI/CD on GitHub Actions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1000" y="4191000"/>
            <a:ext cx="8382000" cy="7620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1500" y="4347210"/>
            <a:ext cx="2200275" cy="213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A8FF"/>
                </a:solidFill>
                <a:latin typeface="Segoe UI"/>
              </a:rPr>
              <a:t>Enterprise Business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1500" y="4657248"/>
            <a:ext cx="1670708" cy="1733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>
                <a:solidFill>
                  <a:srgbClr val="C9D1D9"/>
                </a:solidFill>
                <a:latin typeface="Segoe UI"/>
              </a:rPr>
              <a:t>⏱ 2-3h → 10min per deck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57500" y="4657248"/>
            <a:ext cx="2411801" cy="1733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>
                <a:solidFill>
                  <a:srgbClr val="C9D1D9"/>
                </a:solidFill>
                <a:latin typeface="Segoe UI"/>
              </a:rPr>
              <a:t>🔁 Reusable across any Azure topic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15000" y="4657248"/>
            <a:ext cx="1794224" cy="1733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>
                <a:solidFill>
                  <a:srgbClr val="C9D1D9"/>
                </a:solidFill>
                <a:latin typeface="Segoe UI"/>
              </a:rPr>
              <a:t>🏢 Team productivity × 10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43750" y="228600"/>
            <a:ext cx="1619250" cy="247650"/>
          </a:xfrm>
          <a:prstGeom prst="roundRect">
            <a:avLst>
              <a:gd name="adj" fmla="val 50000"/>
            </a:avLst>
          </a:prstGeom>
          <a:solidFill>
            <a:srgbClr val="6E4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34250" y="310991"/>
            <a:ext cx="1089136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FFFFFF"/>
                </a:solidFill>
                <a:latin typeface="Segoe UI"/>
              </a:rPr>
              <a:t>GitHub Copilot SDK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6E4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329565"/>
            <a:ext cx="1584198" cy="3200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410527"/>
            <a:ext cx="1463182" cy="18668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8B949E"/>
                </a:solidFill>
                <a:latin typeface="Segoe UI"/>
              </a:rPr>
              <a:t>End-to-End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5750" y="857250"/>
            <a:ext cx="1238250" cy="666750"/>
          </a:xfrm>
          <a:prstGeom prst="roundRect">
            <a:avLst>
              <a:gd name="adj" fmla="val 11428"/>
            </a:avLst>
          </a:prstGeom>
          <a:solidFill>
            <a:srgbClr val="1F2937"/>
          </a:solidFill>
          <a:ln w="254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1575" y="1037748"/>
            <a:ext cx="786598" cy="1733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58A6FF"/>
                </a:solidFill>
                <a:latin typeface="Segoe UI"/>
              </a:rPr>
              <a:t>User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7316" y="1252537"/>
            <a:ext cx="935116" cy="1333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8B949E"/>
                </a:solidFill>
                <a:latin typeface="Segoe UI"/>
              </a:rPr>
              <a:t>workflow_dispatch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24000" y="1190625"/>
            <a:ext cx="333375" cy="0"/>
          </a:xfrm>
          <a:prstGeom prst="line">
            <a:avLst/>
          </a:prstGeom>
          <a:ln w="25400">
            <a:solidFill>
              <a:srgbClr val="303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 9"/>
          <p:cNvSpPr/>
          <p:nvPr/>
        </p:nvSpPr>
        <p:spPr>
          <a:xfrm>
            <a:off x="1857375" y="114300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47625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952625" y="762000"/>
            <a:ext cx="1524000" cy="857250"/>
          </a:xfrm>
          <a:prstGeom prst="roundRect">
            <a:avLst>
              <a:gd name="adj" fmla="val 8888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14062" y="923448"/>
            <a:ext cx="1001125" cy="1733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FFFFFF"/>
                </a:solidFill>
                <a:latin typeface="Segoe UI"/>
              </a:rPr>
              <a:t>GitHub Actions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7052" y="1138237"/>
            <a:ext cx="1155144" cy="1333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8B949E"/>
                </a:solidFill>
                <a:latin typeface="Segoe UI"/>
              </a:rPr>
              <a:t>Node.js 22 / Python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7080" y="1328737"/>
            <a:ext cx="715089" cy="1333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8B949E"/>
                </a:solidFill>
                <a:latin typeface="Segoe UI"/>
              </a:rPr>
              <a:t>ubuntu-latest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476625" y="1190625"/>
            <a:ext cx="333375" cy="0"/>
          </a:xfrm>
          <a:prstGeom prst="line">
            <a:avLst/>
          </a:prstGeom>
          <a:ln w="25400">
            <a:solidFill>
              <a:srgbClr val="303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/>
          <p:cNvSpPr/>
          <p:nvPr/>
        </p:nvSpPr>
        <p:spPr>
          <a:xfrm>
            <a:off x="3810000" y="114300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47625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05250" y="762000"/>
            <a:ext cx="1809750" cy="857250"/>
          </a:xfrm>
          <a:prstGeom prst="roundRect">
            <a:avLst>
              <a:gd name="adj" fmla="val 8888"/>
            </a:avLst>
          </a:prstGeom>
          <a:solidFill>
            <a:srgbClr val="21262D"/>
          </a:solidFill>
          <a:ln w="25400">
            <a:solidFill>
              <a:srgbClr val="6E4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6544" y="894873"/>
            <a:ext cx="1287160" cy="1733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D2A8FF"/>
                </a:solidFill>
                <a:latin typeface="Segoe UI"/>
              </a:rPr>
              <a:t>Copilot SDK Runner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5049" y="1090612"/>
            <a:ext cx="1210151" cy="1333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8B949E"/>
                </a:solidFill>
                <a:latin typeface="Segoe UI"/>
              </a:rPr>
              <a:t>copilot-sdk-runner.mjs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7532" y="1252537"/>
            <a:ext cx="1485185" cy="1333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8B949E"/>
                </a:solidFill>
                <a:latin typeface="Segoe UI"/>
              </a:rPr>
              <a:t>CopilotClient / sendAndWait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0015" y="1414462"/>
            <a:ext cx="1760220" cy="1333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8B949E"/>
                </a:solidFill>
                <a:latin typeface="Segoe UI"/>
              </a:rPr>
              <a:t>Retry: 2 attempts / Timeout: 10m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10125" y="1619250"/>
            <a:ext cx="0" cy="381000"/>
          </a:xfrm>
          <a:prstGeom prst="line">
            <a:avLst/>
          </a:prstGeom>
          <a:ln w="25400">
            <a:solidFill>
              <a:srgbClr val="6E4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reeform 22"/>
          <p:cNvSpPr/>
          <p:nvPr/>
        </p:nvSpPr>
        <p:spPr>
          <a:xfrm>
            <a:off x="4762500" y="20002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47625" y="95250"/>
                </a:ln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>
            <a:srgbClr val="6E4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905250" y="2095500"/>
            <a:ext cx="1809750" cy="762000"/>
          </a:xfrm>
          <a:prstGeom prst="roundRect">
            <a:avLst>
              <a:gd name="adj" fmla="val 10000"/>
            </a:avLst>
          </a:prstGeom>
          <a:solidFill>
            <a:srgbClr val="6E40C9"/>
          </a:solidFill>
          <a:ln w="12700">
            <a:solidFill>
              <a:srgbClr val="8957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71057" y="2248852"/>
            <a:ext cx="1078134" cy="18668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GitHub Copilot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7079" y="2463641"/>
            <a:ext cx="726090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25">
                <a:solidFill>
                  <a:srgbClr val="E0D4F7"/>
                </a:solidFill>
                <a:latin typeface="Segoe UI"/>
              </a:rPr>
              <a:t>Agentic 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22539" y="2662237"/>
            <a:ext cx="1375171" cy="1333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C9B8E8"/>
                </a:solidFill>
                <a:latin typeface="Segoe UI"/>
              </a:rPr>
              <a:t>claude-opus-4.6 / gpt-5.2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3238500" y="2476500"/>
            <a:ext cx="666750" cy="0"/>
          </a:xfrm>
          <a:prstGeom prst="line">
            <a:avLst/>
          </a:prstGeom>
          <a:ln w="254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 28"/>
          <p:cNvSpPr/>
          <p:nvPr/>
        </p:nvSpPr>
        <p:spPr>
          <a:xfrm>
            <a:off x="3143250" y="242887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95250" y="0"/>
                </a:moveTo>
                <a:lnTo>
                  <a:pt x="0" y="47625"/>
                </a:lnTo>
                <a:lnTo>
                  <a:pt x="95250" y="95250"/>
                </a:lnTo>
                <a:lnTo>
                  <a:pt x="95250" y="0"/>
                </a:lnTo>
                <a:close/>
              </a:path>
            </a:pathLst>
          </a:cu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666875" y="2190750"/>
            <a:ext cx="1476375" cy="571500"/>
          </a:xfrm>
          <a:prstGeom prst="roundRect">
            <a:avLst>
              <a:gd name="adj" fmla="val 13333"/>
            </a:avLst>
          </a:prstGeom>
          <a:solidFill>
            <a:srgbClr val="0078D4"/>
          </a:solidFill>
          <a:ln w="12700">
            <a:solidFill>
              <a:srgbClr val="379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04250" y="2331720"/>
            <a:ext cx="792099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MS Learn MCP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57707" y="2519362"/>
            <a:ext cx="1485185" cy="1333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CCE5FF"/>
                </a:solidFill>
                <a:latin typeface="Segoe UI"/>
              </a:rPr>
              <a:t>learn.microsoft.com/api/mcp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810125" y="2857500"/>
            <a:ext cx="0" cy="333375"/>
          </a:xfrm>
          <a:prstGeom prst="line">
            <a:avLst/>
          </a:prstGeom>
          <a:ln w="25400">
            <a:solidFill>
              <a:srgbClr val="6E4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Freeform 33"/>
          <p:cNvSpPr/>
          <p:nvPr/>
        </p:nvSpPr>
        <p:spPr>
          <a:xfrm>
            <a:off x="4762500" y="319087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47625" y="95250"/>
                </a:ln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>
            <a:srgbClr val="6E4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095750" y="3286125"/>
            <a:ext cx="1428750" cy="523875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254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52580" y="3418998"/>
            <a:ext cx="715089" cy="1733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FB950"/>
                </a:solidFill>
                <a:latin typeface="Segoe UI"/>
              </a:rPr>
              <a:t>SVG Slides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2537" y="3614737"/>
            <a:ext cx="1395174" cy="1333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8B949E"/>
                </a:solidFill>
                <a:latin typeface="Segoe UI"/>
              </a:rPr>
              <a:t>960×540 / Text + Diagrams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524500" y="3552825"/>
            <a:ext cx="428625" cy="0"/>
          </a:xfrm>
          <a:prstGeom prst="line">
            <a:avLst/>
          </a:prstGeom>
          <a:ln w="25400">
            <a:solidFill>
              <a:srgbClr val="303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5953125" y="350520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47625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048375" y="3286125"/>
            <a:ext cx="1428750" cy="523875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25400">
            <a:solidFill>
              <a:srgbClr val="F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99704" y="3408045"/>
            <a:ext cx="726090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0883E"/>
                </a:solidFill>
                <a:latin typeface="Segoe UI"/>
              </a:rPr>
              <a:t>svg2pptx.py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65162" y="3595687"/>
            <a:ext cx="1395174" cy="1333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8B949E"/>
                </a:solidFill>
                <a:latin typeface="Segoe UI"/>
              </a:rPr>
              <a:t>SVG → Native PPTX Objects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762750" y="3810000"/>
            <a:ext cx="0" cy="285750"/>
          </a:xfrm>
          <a:prstGeom prst="line">
            <a:avLst/>
          </a:prstGeom>
          <a:ln w="25400">
            <a:solidFill>
              <a:srgbClr val="303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6715125" y="40957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47625" y="95250"/>
                </a:ln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096000" y="4191000"/>
            <a:ext cx="1333500" cy="476250"/>
          </a:xfrm>
          <a:prstGeom prst="roundRect">
            <a:avLst>
              <a:gd name="adj" fmla="val 16000"/>
            </a:avLst>
          </a:prstGeom>
          <a:solidFill>
            <a:srgbClr val="1F2937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0692" y="4331970"/>
            <a:ext cx="924115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58A6FF"/>
                </a:solidFill>
                <a:latin typeface="Segoe UI"/>
              </a:rPr>
              <a:t>Editable .pptx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67688" y="4491037"/>
            <a:ext cx="990123" cy="1333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8B949E"/>
                </a:solidFill>
                <a:latin typeface="Segoe UI"/>
              </a:rPr>
              <a:t>Shapes + TextBoxes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5191125" y="4429125"/>
            <a:ext cx="904875" cy="0"/>
          </a:xfrm>
          <a:prstGeom prst="line">
            <a:avLst/>
          </a:prstGeom>
          <a:ln w="254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5095875" y="438150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95250" y="0"/>
                </a:moveTo>
                <a:lnTo>
                  <a:pt x="0" y="47625"/>
                </a:lnTo>
                <a:lnTo>
                  <a:pt x="95250" y="95250"/>
                </a:lnTo>
                <a:lnTo>
                  <a:pt x="95250" y="0"/>
                </a:lnTo>
                <a:close/>
              </a:path>
            </a:pathLst>
          </a:cu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619500" y="4191000"/>
            <a:ext cx="1476375" cy="476250"/>
          </a:xfrm>
          <a:prstGeom prst="roundRect">
            <a:avLst>
              <a:gd name="adj" fmla="val 16000"/>
            </a:avLst>
          </a:prstGeom>
          <a:solidFill>
            <a:srgbClr val="0078D4"/>
          </a:solidFill>
          <a:ln w="12700">
            <a:solidFill>
              <a:srgbClr val="379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58850" y="4303395"/>
            <a:ext cx="1188148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Azure Blob Storage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65339" y="4471987"/>
            <a:ext cx="1375171" cy="1333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CCE5FF"/>
                </a:solidFill>
                <a:latin typeface="Segoe UI"/>
              </a:rPr>
              <a:t>copilot-outputs container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2952750" y="4429125"/>
            <a:ext cx="666750" cy="0"/>
          </a:xfrm>
          <a:prstGeom prst="line">
            <a:avLst/>
          </a:prstGeom>
          <a:ln w="254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2857500" y="438150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95250" y="0"/>
                </a:moveTo>
                <a:lnTo>
                  <a:pt x="0" y="47625"/>
                </a:lnTo>
                <a:lnTo>
                  <a:pt x="95250" y="95250"/>
                </a:lnTo>
                <a:lnTo>
                  <a:pt x="95250" y="0"/>
                </a:lnTo>
                <a:close/>
              </a:path>
            </a:pathLst>
          </a:cu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381125" y="4191000"/>
            <a:ext cx="1476375" cy="476250"/>
          </a:xfrm>
          <a:prstGeom prst="roundRect">
            <a:avLst>
              <a:gd name="adj" fmla="val 16000"/>
            </a:avLst>
          </a:prstGeom>
          <a:solidFill>
            <a:srgbClr val="0078D4"/>
          </a:solidFill>
          <a:ln w="12700">
            <a:solidFill>
              <a:srgbClr val="379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52492" y="4303395"/>
            <a:ext cx="924115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Blazor Web App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36977" y="4471987"/>
            <a:ext cx="1155144" cy="1333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CCE5FF"/>
                </a:solidFill>
                <a:latin typeface="Segoe UI"/>
              </a:rPr>
              <a:t>.NET 10 / App Service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5750" y="3286125"/>
            <a:ext cx="1143000" cy="428625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1000" y="3376612"/>
            <a:ext cx="330041" cy="13335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>
                <a:solidFill>
                  <a:srgbClr val="8B949E"/>
                </a:solidFill>
                <a:latin typeface="Segoe UI"/>
              </a:rPr>
              <a:t>Legend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1000" y="3543300"/>
            <a:ext cx="76200" cy="76200"/>
          </a:xfrm>
          <a:prstGeom prst="rect">
            <a:avLst/>
          </a:prstGeom>
          <a:solidFill>
            <a:srgbClr val="6E4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14350" y="3546633"/>
            <a:ext cx="544568" cy="12001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5">
                <a:solidFill>
                  <a:srgbClr val="8B949E"/>
                </a:solidFill>
                <a:latin typeface="Segoe UI"/>
              </a:rPr>
              <a:t>Copilot SDK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81000" y="3638550"/>
            <a:ext cx="76200" cy="762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14350" y="3641883"/>
            <a:ext cx="495061" cy="12001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5">
                <a:solidFill>
                  <a:srgbClr val="8B949E"/>
                </a:solidFill>
                <a:latin typeface="Segoe UI"/>
              </a:rPr>
              <a:t>Azure / MS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86500" y="809625"/>
            <a:ext cx="2571750" cy="1476375"/>
          </a:xfrm>
          <a:prstGeom prst="roundRect">
            <a:avLst>
              <a:gd name="adj" fmla="val 5161"/>
            </a:avLst>
          </a:prstGeom>
          <a:solidFill>
            <a:srgbClr val="161B22"/>
          </a:solidFill>
          <a:ln w="12700">
            <a:solidFill>
              <a:srgbClr val="6E4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77000" y="942498"/>
            <a:ext cx="858107" cy="1733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D2A8FF"/>
                </a:solidFill>
                <a:latin typeface="Segoe UI"/>
              </a:rPr>
              <a:t>SDK Features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24625" y="1177766"/>
            <a:ext cx="1875734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>
                <a:solidFill>
                  <a:srgbClr val="C9D1D9"/>
                </a:solidFill>
                <a:latin typeface="Segoe UI"/>
              </a:rPr>
              <a:t>▸ CopilotClient + createSession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24625" y="1368266"/>
            <a:ext cx="1815226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>
                <a:solidFill>
                  <a:srgbClr val="C9D1D9"/>
                </a:solidFill>
                <a:latin typeface="Segoe UI"/>
              </a:rPr>
              <a:t>▸ sendAndWait (sync execution)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24625" y="1558766"/>
            <a:ext cx="1694211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>
                <a:solidFill>
                  <a:srgbClr val="C9D1D9"/>
                </a:solidFill>
                <a:latin typeface="Segoe UI"/>
              </a:rPr>
              <a:t>▸ onPermissionRequest (auto)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24625" y="1749266"/>
            <a:ext cx="1875734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>
                <a:solidFill>
                  <a:srgbClr val="C9D1D9"/>
                </a:solidFill>
                <a:latin typeface="Segoe UI"/>
              </a:rPr>
              <a:t>▸ Retry: 2 attempts / 10s delay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24625" y="1939766"/>
            <a:ext cx="1815226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>
                <a:solidFill>
                  <a:srgbClr val="C9D1D9"/>
                </a:solidFill>
                <a:latin typeface="Segoe UI"/>
              </a:rPr>
              <a:t>▸ Timeout: 600s (configurable)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24625" y="2130266"/>
            <a:ext cx="2057257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>
                <a:solidFill>
                  <a:srgbClr val="C9D1D9"/>
                </a:solidFill>
                <a:latin typeface="Segoe UI"/>
              </a:rPr>
              <a:t>▸ Model: claude-opus-4.6 / gpt-5.2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85750" y="1143000"/>
            <a:ext cx="9525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143750" y="228600"/>
            <a:ext cx="1619250" cy="247650"/>
          </a:xfrm>
          <a:prstGeom prst="roundRect">
            <a:avLst>
              <a:gd name="adj" fmla="val 50000"/>
            </a:avLst>
          </a:prstGeom>
          <a:solidFill>
            <a:srgbClr val="6E4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34250" y="310991"/>
            <a:ext cx="1089136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FFFFFF"/>
                </a:solidFill>
                <a:latin typeface="Segoe UI"/>
              </a:rPr>
              <a:t>GitHub Copilot SDK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6E4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407670"/>
            <a:ext cx="3344418" cy="4267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Copilot Slide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870585"/>
            <a:ext cx="5312664" cy="213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B949E"/>
                </a:solidFill>
                <a:latin typeface="Segoe UI"/>
              </a:rPr>
              <a:t>One Prompt → Editable PowerPoint with Diagrams in 10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577691"/>
            <a:ext cx="1452181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>
                <a:solidFill>
                  <a:srgbClr val="58A6FF"/>
                </a:solidFill>
                <a:latin typeface="Segoe UI"/>
              </a:rPr>
              <a:t>github.com/kanazawazawa/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749141"/>
            <a:ext cx="1391673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>
                <a:solidFill>
                  <a:srgbClr val="58A6FF"/>
                </a:solidFill>
                <a:latin typeface="Segoe UI"/>
              </a:rPr>
              <a:t>copilot-agent-workspace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" y="1238250"/>
            <a:ext cx="4000500" cy="17145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" y="1378267"/>
            <a:ext cx="693086" cy="24003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1723548"/>
            <a:ext cx="1852731" cy="1733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>
                <a:solidFill>
                  <a:srgbClr val="C9D1D9"/>
                </a:solidFill>
                <a:latin typeface="Segoe UI"/>
              </a:rPr>
              <a:t>顧客向け技術スライドを作るのに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1914048"/>
            <a:ext cx="1644705" cy="1733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>
                <a:solidFill>
                  <a:srgbClr val="C9D1D9"/>
                </a:solidFill>
                <a:latin typeface="Segoe UI"/>
              </a:rPr>
              <a:t>毎回 2〜3 時間かかっている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4375" y="2207895"/>
            <a:ext cx="1662207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8B949E"/>
                </a:solidFill>
                <a:latin typeface="Segoe UI"/>
              </a:rPr>
              <a:t>① MS Learn で最新情報を調査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375" y="2398395"/>
            <a:ext cx="1980247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8B949E"/>
                </a:solidFill>
                <a:latin typeface="Segoe UI"/>
              </a:rPr>
              <a:t>② 内容を構造化してスライドに落とす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375" y="2588895"/>
            <a:ext cx="1980247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8B949E"/>
                </a:solidFill>
                <a:latin typeface="Segoe UI"/>
              </a:rPr>
              <a:t>③ 図表・レイアウトを手作業で整える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4375" y="2779395"/>
            <a:ext cx="1524190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8B949E"/>
                </a:solidFill>
                <a:latin typeface="Segoe UI"/>
              </a:rPr>
              <a:t>④ レビュー・修正を繰り返す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62500" y="1238250"/>
            <a:ext cx="4000500" cy="17145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3000" y="1378267"/>
            <a:ext cx="792099" cy="24003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1723548"/>
            <a:ext cx="2496312" cy="1733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>
                <a:solidFill>
                  <a:srgbClr val="C9D1D9"/>
                </a:solidFill>
                <a:latin typeface="Segoe UI"/>
              </a:rPr>
              <a:t>プロンプト 1 行で調査から PPTX 生成まで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3000" y="1914048"/>
            <a:ext cx="1397674" cy="1733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>
                <a:solidFill>
                  <a:srgbClr val="C9D1D9"/>
                </a:solidFill>
                <a:latin typeface="Segoe UI"/>
              </a:rPr>
              <a:t>全自動。約 10 分で完了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5875" y="2207895"/>
            <a:ext cx="2316289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8B949E"/>
                </a:solidFill>
                <a:latin typeface="Segoe UI"/>
              </a:rPr>
              <a:t>✅ Copilot SDK が MS Learn を自動調査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5875" y="2398395"/>
            <a:ext cx="2304288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8B949E"/>
                </a:solidFill>
                <a:latin typeface="Segoe UI"/>
              </a:rPr>
              <a:t>✅ AI が SVG スライドを生成（図表込み）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5875" y="2588895"/>
            <a:ext cx="2394299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8B949E"/>
                </a:solidFill>
                <a:latin typeface="Segoe UI"/>
              </a:rPr>
              <a:t>✅ svg2pptx.py で編集可能な PPTX に変換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5875" y="2779395"/>
            <a:ext cx="2376297" cy="16001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8B949E"/>
                </a:solidFill>
                <a:latin typeface="Segoe UI"/>
              </a:rPr>
              <a:t>✅ Azure Blob 経由で Web アプリから取得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429125" y="2095500"/>
            <a:ext cx="285750" cy="0"/>
          </a:xfrm>
          <a:prstGeom prst="line">
            <a:avLst/>
          </a:prstGeom>
          <a:ln w="25400">
            <a:solidFill>
              <a:srgbClr val="6E40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/>
          <p:cNvSpPr/>
          <p:nvPr/>
        </p:nvSpPr>
        <p:spPr>
          <a:xfrm>
            <a:off x="4714875" y="204787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47625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6E4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1000" y="3143250"/>
            <a:ext cx="8382000" cy="857250"/>
          </a:xfrm>
          <a:prstGeom prst="roundRect">
            <a:avLst>
              <a:gd name="adj" fmla="val 8888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500" y="3299460"/>
            <a:ext cx="1672209" cy="213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Key Differentiators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3571875"/>
            <a:ext cx="1905000" cy="304800"/>
          </a:xfrm>
          <a:prstGeom prst="roundRect">
            <a:avLst>
              <a:gd name="adj" fmla="val 125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6750" y="3682841"/>
            <a:ext cx="1738217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>
                <a:solidFill>
                  <a:srgbClr val="C9D1D9"/>
                </a:solidFill>
                <a:latin typeface="Segoe UI"/>
              </a:rPr>
              <a:t>📝 Editable PPTX (not images)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67000" y="3571875"/>
            <a:ext cx="1905000" cy="304800"/>
          </a:xfrm>
          <a:prstGeom prst="roundRect">
            <a:avLst>
              <a:gd name="adj" fmla="val 125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2250" y="3682841"/>
            <a:ext cx="1314664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>
                <a:solidFill>
                  <a:srgbClr val="C9D1D9"/>
                </a:solidFill>
                <a:latin typeface="Segoe UI"/>
              </a:rPr>
              <a:t>🔄 SDK Retry + Timeout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2500" y="3571875"/>
            <a:ext cx="1905000" cy="304800"/>
          </a:xfrm>
          <a:prstGeom prst="roundRect">
            <a:avLst>
              <a:gd name="adj" fmla="val 125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7750" y="3682841"/>
            <a:ext cx="1617202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>
                <a:solidFill>
                  <a:srgbClr val="C9D1D9"/>
                </a:solidFill>
                <a:latin typeface="Segoe UI"/>
              </a:rPr>
              <a:t>📚 MS Learn MCP (live data)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0" y="3571875"/>
            <a:ext cx="1905000" cy="304800"/>
          </a:xfrm>
          <a:prstGeom prst="roundRect">
            <a:avLst>
              <a:gd name="adj" fmla="val 125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53250" y="3682841"/>
            <a:ext cx="1595199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>
                <a:solidFill>
                  <a:srgbClr val="C9D1D9"/>
                </a:solidFill>
                <a:latin typeface="Segoe UI"/>
              </a:rPr>
              <a:t>⚙️ CI/CD on GitHub Actions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1000" y="4191000"/>
            <a:ext cx="8382000" cy="76200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1500" y="4347210"/>
            <a:ext cx="2200275" cy="213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A8FF"/>
                </a:solidFill>
                <a:latin typeface="Segoe UI"/>
              </a:rPr>
              <a:t>Enterprise Business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1500" y="4657248"/>
            <a:ext cx="1670708" cy="1733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>
                <a:solidFill>
                  <a:srgbClr val="C9D1D9"/>
                </a:solidFill>
                <a:latin typeface="Segoe UI"/>
              </a:rPr>
              <a:t>⏱ 2-3h → 10min per deck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57500" y="4657248"/>
            <a:ext cx="2411801" cy="1733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>
                <a:solidFill>
                  <a:srgbClr val="C9D1D9"/>
                </a:solidFill>
                <a:latin typeface="Segoe UI"/>
              </a:rPr>
              <a:t>🔁 Reusable across any Azure topic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15000" y="4657248"/>
            <a:ext cx="1794224" cy="1733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>
                <a:solidFill>
                  <a:srgbClr val="C9D1D9"/>
                </a:solidFill>
                <a:latin typeface="Segoe UI"/>
              </a:rPr>
              <a:t>🏢 Team productivity × 10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43750" y="228600"/>
            <a:ext cx="1619250" cy="247650"/>
          </a:xfrm>
          <a:prstGeom prst="roundRect">
            <a:avLst>
              <a:gd name="adj" fmla="val 50000"/>
            </a:avLst>
          </a:prstGeom>
          <a:solidFill>
            <a:srgbClr val="6E4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34250" y="310991"/>
            <a:ext cx="1089136" cy="14668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FFFFFF"/>
                </a:solidFill>
                <a:latin typeface="Segoe UI"/>
              </a:rPr>
              <a:t>GitHub Copilot SDK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