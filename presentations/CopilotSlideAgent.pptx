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407670"/>
            <a:ext cx="3344418" cy="4267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Copilot Slide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870585"/>
            <a:ext cx="5312664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B949E"/>
                </a:solidFill>
                <a:latin typeface="Segoe UI"/>
              </a:rPr>
              <a:t>One Prompt → Editable PowerPoint with Diagrams in 10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577691"/>
            <a:ext cx="1452181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58A6FF"/>
                </a:solidFill>
                <a:latin typeface="Segoe UI"/>
              </a:rPr>
              <a:t>github.com/kanazawazawa/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749141"/>
            <a:ext cx="1391673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58A6FF"/>
                </a:solidFill>
                <a:latin typeface="Segoe UI"/>
              </a:rPr>
              <a:t>copilot-agent-workspace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1238250"/>
            <a:ext cx="4000500" cy="171450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1378267"/>
            <a:ext cx="693086" cy="2400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85149"/>
                </a:solidFill>
                <a:latin typeface="Segoe U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723548"/>
            <a:ext cx="1852731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顧客向け技術スライドを作るのに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914048"/>
            <a:ext cx="1644705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毎回 2〜3 時間かかっている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2207895"/>
            <a:ext cx="1662207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① MS Learn で最新情報を調査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2398395"/>
            <a:ext cx="1980247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② 内容を構造化してスライドに落とす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2588895"/>
            <a:ext cx="1980247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③ 図表・レイアウトを手作業で整える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2779395"/>
            <a:ext cx="152419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④ レビュー・修正を繰り返す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2500" y="1238250"/>
            <a:ext cx="4000500" cy="171450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3000" y="1378267"/>
            <a:ext cx="792099" cy="2400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Segoe U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1723548"/>
            <a:ext cx="2496312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プロンプト 1 行で調査から PPTX 生成まで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0" y="1914048"/>
            <a:ext cx="139767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全自動。約 10 分で完了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5875" y="2207895"/>
            <a:ext cx="231628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✅ Copilot SDK が MS Learn を自動調査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5875" y="2398395"/>
            <a:ext cx="2304288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✅ AI が SVG スライドを生成（図表込み）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5875" y="2588895"/>
            <a:ext cx="239429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✅ svg2pptx.py で編集可能な PPTX に変換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5875" y="2779395"/>
            <a:ext cx="2376297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49E"/>
                </a:solidFill>
                <a:latin typeface="Segoe UI"/>
              </a:rPr>
              <a:t>✅ Azure Blob 経由で Web アプリから取得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29125" y="2095500"/>
            <a:ext cx="285750" cy="0"/>
          </a:xfrm>
          <a:prstGeom prst="line">
            <a:avLst/>
          </a:prstGeom>
          <a:ln w="25400">
            <a:solidFill>
              <a:srgbClr val="6E4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4714875" y="2047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1000" y="3143250"/>
            <a:ext cx="8382000" cy="857250"/>
          </a:xfrm>
          <a:prstGeom prst="roundRect">
            <a:avLst>
              <a:gd name="adj" fmla="val 8888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" y="3299460"/>
            <a:ext cx="1672209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Segoe UI"/>
              </a:rPr>
              <a:t>Key Differentiators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3571875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50" y="3682841"/>
            <a:ext cx="1738217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📝 Editable PPTX (not images)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67000" y="3571875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62250" y="3682841"/>
            <a:ext cx="1314664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🔄 SDK Retry + Timeout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62500" y="3571875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57750" y="3682841"/>
            <a:ext cx="1617202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📚 MS Learn MCP (live data)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571875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53250" y="3682841"/>
            <a:ext cx="159519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⚙️ CI/CD on GitHub Actions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1000" y="4191000"/>
            <a:ext cx="8382000" cy="762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" y="4347210"/>
            <a:ext cx="2200275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A8FF"/>
                </a:solidFill>
                <a:latin typeface="Segoe UI"/>
              </a:rPr>
              <a:t>Enterprise Business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4657248"/>
            <a:ext cx="1670708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⏱ 2-3h → 10min per deck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7500" y="4657248"/>
            <a:ext cx="2411801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🔁 Reusable across any Azure topic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0" y="4657248"/>
            <a:ext cx="179422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C9D1D9"/>
                </a:solidFill>
                <a:latin typeface="Segoe UI"/>
              </a:rPr>
              <a:t>🏢 Team productivity × 10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43750" y="228600"/>
            <a:ext cx="1619250" cy="247650"/>
          </a:xfrm>
          <a:prstGeom prst="roundRect">
            <a:avLst>
              <a:gd name="adj" fmla="val 50000"/>
            </a:avLst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34250" y="310991"/>
            <a:ext cx="108913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FFFFFF"/>
                </a:solidFill>
                <a:latin typeface="Segoe UI"/>
              </a:rPr>
              <a:t>GitHub Copilot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29565"/>
            <a:ext cx="1584198" cy="3200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410527"/>
            <a:ext cx="1463182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8B949E"/>
                </a:solidFill>
                <a:latin typeface="Segoe UI"/>
              </a:rPr>
              <a:t>End-to-End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5750" y="857250"/>
            <a:ext cx="1238250" cy="666750"/>
          </a:xfrm>
          <a:prstGeom prst="roundRect">
            <a:avLst>
              <a:gd name="adj" fmla="val 11428"/>
            </a:avLst>
          </a:prstGeom>
          <a:solidFill>
            <a:srgbClr val="1F2937"/>
          </a:solidFill>
          <a:ln w="254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575" y="1037748"/>
            <a:ext cx="786598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58A6FF"/>
                </a:solidFill>
                <a:latin typeface="Segoe UI"/>
              </a:rPr>
              <a:t>User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316" y="1252537"/>
            <a:ext cx="935116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workflow_dispatch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24000" y="1190625"/>
            <a:ext cx="333375" cy="0"/>
          </a:xfrm>
          <a:prstGeom prst="line">
            <a:avLst/>
          </a:prstGeom>
          <a:ln w="254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1857375" y="1143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52625" y="762000"/>
            <a:ext cx="1524000" cy="857250"/>
          </a:xfrm>
          <a:prstGeom prst="roundRect">
            <a:avLst>
              <a:gd name="adj" fmla="val 8888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4062" y="923448"/>
            <a:ext cx="1001125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Segoe UI"/>
              </a:rPr>
              <a:t>GitHub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7052" y="1138237"/>
            <a:ext cx="1155144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Node.js 22 / Python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7080" y="1328737"/>
            <a:ext cx="715089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ubuntu-latest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6625" y="1190625"/>
            <a:ext cx="333375" cy="0"/>
          </a:xfrm>
          <a:prstGeom prst="line">
            <a:avLst/>
          </a:prstGeom>
          <a:ln w="254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eform 15"/>
          <p:cNvSpPr/>
          <p:nvPr/>
        </p:nvSpPr>
        <p:spPr>
          <a:xfrm>
            <a:off x="3810000" y="11430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05250" y="762000"/>
            <a:ext cx="1809750" cy="857250"/>
          </a:xfrm>
          <a:prstGeom prst="roundRect">
            <a:avLst>
              <a:gd name="adj" fmla="val 8888"/>
            </a:avLst>
          </a:prstGeom>
          <a:solidFill>
            <a:srgbClr val="21262D"/>
          </a:solidFill>
          <a:ln w="25400">
            <a:solidFill>
              <a:srgbClr val="6E4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6544" y="894873"/>
            <a:ext cx="128716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D2A8FF"/>
                </a:solidFill>
                <a:latin typeface="Segoe UI"/>
              </a:rPr>
              <a:t>Copilot SDK Runner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5049" y="1090612"/>
            <a:ext cx="1210151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copilot-sdk-runner.mjs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7532" y="1252537"/>
            <a:ext cx="1485185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CopilotClient / sendAndWait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0015" y="1414462"/>
            <a:ext cx="1760220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Retry: 2 attempts / Timeout: 10m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10125" y="1619250"/>
            <a:ext cx="0" cy="381000"/>
          </a:xfrm>
          <a:prstGeom prst="line">
            <a:avLst/>
          </a:prstGeom>
          <a:ln w="25400">
            <a:solidFill>
              <a:srgbClr val="6E4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4762500" y="2000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905250" y="2095500"/>
            <a:ext cx="1809750" cy="762000"/>
          </a:xfrm>
          <a:prstGeom prst="roundRect">
            <a:avLst>
              <a:gd name="adj" fmla="val 10000"/>
            </a:avLst>
          </a:prstGeom>
          <a:solidFill>
            <a:srgbClr val="6E40C9"/>
          </a:solidFill>
          <a:ln w="12700">
            <a:solidFill>
              <a:srgbClr val="895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1057" y="2248852"/>
            <a:ext cx="1078134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GitHub Copilot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7079" y="2463641"/>
            <a:ext cx="72609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E0D4F7"/>
                </a:solidFill>
                <a:latin typeface="Segoe UI"/>
              </a:rPr>
              <a:t>Agentic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2539" y="2662237"/>
            <a:ext cx="1375171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C9B8E8"/>
                </a:solidFill>
                <a:latin typeface="Segoe UI"/>
              </a:rPr>
              <a:t>claude-opus-4.6 / gpt-5.2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238500" y="2476500"/>
            <a:ext cx="66675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3143250" y="2428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47625"/>
                </a:ln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66875" y="2190750"/>
            <a:ext cx="1476375" cy="57150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2700">
            <a:solidFill>
              <a:srgbClr val="37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04250" y="2331720"/>
            <a:ext cx="79209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MS Learn 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57707" y="2519362"/>
            <a:ext cx="1485185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CCE5FF"/>
                </a:solidFill>
                <a:latin typeface="Segoe UI"/>
              </a:rPr>
              <a:t>learn.microsoft.com/api/mcp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10125" y="2857500"/>
            <a:ext cx="0" cy="333375"/>
          </a:xfrm>
          <a:prstGeom prst="line">
            <a:avLst/>
          </a:prstGeom>
          <a:ln w="25400">
            <a:solidFill>
              <a:srgbClr val="6E4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4762500" y="3190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95750" y="3286125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254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2580" y="3418998"/>
            <a:ext cx="715089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3FB950"/>
                </a:solidFill>
                <a:latin typeface="Segoe UI"/>
              </a:rPr>
              <a:t>SVG Slides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2537" y="3614737"/>
            <a:ext cx="1395174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960×540 / Text + Diagrams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24500" y="3552825"/>
            <a:ext cx="428625" cy="0"/>
          </a:xfrm>
          <a:prstGeom prst="line">
            <a:avLst/>
          </a:prstGeom>
          <a:ln w="254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5953125" y="35052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048375" y="3286125"/>
            <a:ext cx="1428750" cy="523875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254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9704" y="3408045"/>
            <a:ext cx="72609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0883E"/>
                </a:solidFill>
                <a:latin typeface="Segoe UI"/>
              </a:rPr>
              <a:t>svg2pptx.py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65162" y="3595687"/>
            <a:ext cx="1395174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SVG → Native PPTX Objects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62750" y="3810000"/>
            <a:ext cx="0" cy="285750"/>
          </a:xfrm>
          <a:prstGeom prst="line">
            <a:avLst/>
          </a:prstGeom>
          <a:ln w="254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6715125" y="40957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96000" y="4191000"/>
            <a:ext cx="1333500" cy="476250"/>
          </a:xfrm>
          <a:prstGeom prst="roundRect">
            <a:avLst>
              <a:gd name="adj" fmla="val 16000"/>
            </a:avLst>
          </a:prstGeom>
          <a:solidFill>
            <a:srgbClr val="1F2937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692" y="4331970"/>
            <a:ext cx="92411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8A6FF"/>
                </a:solidFill>
                <a:latin typeface="Segoe UI"/>
              </a:rPr>
              <a:t>Editable .pptx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7688" y="4491037"/>
            <a:ext cx="990123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Shapes + TextBoxes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5191125" y="4429125"/>
            <a:ext cx="904875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5095875" y="4381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47625"/>
                </a:ln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619500" y="4191000"/>
            <a:ext cx="1476375" cy="476250"/>
          </a:xfrm>
          <a:prstGeom prst="roundRect">
            <a:avLst>
              <a:gd name="adj" fmla="val 16000"/>
            </a:avLst>
          </a:prstGeom>
          <a:solidFill>
            <a:srgbClr val="0078D4"/>
          </a:solidFill>
          <a:ln w="12700">
            <a:solidFill>
              <a:srgbClr val="37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58850" y="4303395"/>
            <a:ext cx="1188148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Azure Blob Storage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65339" y="4471987"/>
            <a:ext cx="1375171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CCE5FF"/>
                </a:solidFill>
                <a:latin typeface="Segoe UI"/>
              </a:rPr>
              <a:t>copilot-outputs container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2952750" y="4429125"/>
            <a:ext cx="666750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2857500" y="43815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95250" y="0"/>
                </a:moveTo>
                <a:lnTo>
                  <a:pt x="0" y="47625"/>
                </a:lnTo>
                <a:lnTo>
                  <a:pt x="95250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381125" y="4191000"/>
            <a:ext cx="1476375" cy="476250"/>
          </a:xfrm>
          <a:prstGeom prst="roundRect">
            <a:avLst>
              <a:gd name="adj" fmla="val 16000"/>
            </a:avLst>
          </a:prstGeom>
          <a:solidFill>
            <a:srgbClr val="0078D4"/>
          </a:solidFill>
          <a:ln w="12700">
            <a:solidFill>
              <a:srgbClr val="37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52492" y="4303395"/>
            <a:ext cx="92411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Blazor Web App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36977" y="4471987"/>
            <a:ext cx="1155144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CCE5FF"/>
                </a:solidFill>
                <a:latin typeface="Segoe UI"/>
              </a:rPr>
              <a:t>.NET 10 / App Service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5750" y="3286125"/>
            <a:ext cx="1143000" cy="428625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1000" y="3376612"/>
            <a:ext cx="330041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49E"/>
                </a:solidFill>
                <a:latin typeface="Segoe UI"/>
              </a:rPr>
              <a:t>Legend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1000" y="3543300"/>
            <a:ext cx="76200" cy="76200"/>
          </a:xfrm>
          <a:prstGeom prst="rect">
            <a:avLst/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4350" y="3546633"/>
            <a:ext cx="544568" cy="1200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5">
                <a:solidFill>
                  <a:srgbClr val="8B949E"/>
                </a:solidFill>
                <a:latin typeface="Segoe UI"/>
              </a:rPr>
              <a:t>Copilot SDK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1000" y="3638550"/>
            <a:ext cx="76200" cy="762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4350" y="3641883"/>
            <a:ext cx="495061" cy="1200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5">
                <a:solidFill>
                  <a:srgbClr val="8B949E"/>
                </a:solidFill>
                <a:latin typeface="Segoe UI"/>
              </a:rPr>
              <a:t>Azure / MS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86500" y="809625"/>
            <a:ext cx="2571750" cy="1476375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6E4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77000" y="942498"/>
            <a:ext cx="858107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D2A8FF"/>
                </a:solidFill>
                <a:latin typeface="Segoe UI"/>
              </a:rPr>
              <a:t>SDK Features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24625" y="1177766"/>
            <a:ext cx="1875734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▸ CopilotClient + createSession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24625" y="1368266"/>
            <a:ext cx="181522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▸ sendAndWait (sync execution)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24625" y="1558766"/>
            <a:ext cx="1694211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▸ onPermissionRequest (auto)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24625" y="1749266"/>
            <a:ext cx="1875734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▸ Retry: 2 attempts / 10s delay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24625" y="1939766"/>
            <a:ext cx="181522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▸ Timeout: 600s (configurable)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24625" y="2130266"/>
            <a:ext cx="2057257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C9D1D9"/>
                </a:solidFill>
                <a:latin typeface="Segoe UI"/>
              </a:rPr>
              <a:t>▸ Model: claude-opus-4.6 / gpt-5.2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5750" y="1143000"/>
            <a:ext cx="9525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143750" y="228600"/>
            <a:ext cx="1619250" cy="247650"/>
          </a:xfrm>
          <a:prstGeom prst="roundRect">
            <a:avLst>
              <a:gd name="adj" fmla="val 50000"/>
            </a:avLst>
          </a:prstGeom>
          <a:solidFill>
            <a:srgbClr val="6E4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34250" y="310991"/>
            <a:ext cx="108913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FFFFFF"/>
                </a:solidFill>
                <a:latin typeface="Segoe UI"/>
              </a:rPr>
              <a:t>GitHub Copilot SDK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